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 id="259" r:id="rId3"/>
    <p:sldId id="258" r:id="rId4"/>
    <p:sldId id="262" r:id="rId5"/>
    <p:sldId id="261" r:id="rId6"/>
    <p:sldId id="265"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07"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A5FD-F007-1136-1CFC-79F5B0AD54BA}"/>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BF461ECB-5A82-0A48-9F88-B3F1895F68D5}"/>
              </a:ext>
            </a:extLst>
          </p:cNvPr>
          <p:cNvPicPr>
            <a:picLocks noChangeAspect="1"/>
          </p:cNvPicPr>
          <p:nvPr/>
        </p:nvPicPr>
        <p:blipFill>
          <a:blip r:embed="rId2"/>
          <a:stretch>
            <a:fillRect/>
          </a:stretch>
        </p:blipFill>
        <p:spPr>
          <a:xfrm>
            <a:off x="0" y="-1"/>
            <a:ext cx="12192000" cy="6858000"/>
          </a:xfrm>
          <a:prstGeom prst="rect">
            <a:avLst/>
          </a:prstGeom>
        </p:spPr>
      </p:pic>
      <p:sp>
        <p:nvSpPr>
          <p:cNvPr id="3" name="TextBox 2">
            <a:extLst>
              <a:ext uri="{FF2B5EF4-FFF2-40B4-BE49-F238E27FC236}">
                <a16:creationId xmlns:a16="http://schemas.microsoft.com/office/drawing/2014/main" id="{D723DAC1-7EEE-BBFC-3198-A5222C6D0BFA}"/>
              </a:ext>
            </a:extLst>
          </p:cNvPr>
          <p:cNvSpPr txBox="1"/>
          <p:nvPr/>
        </p:nvSpPr>
        <p:spPr>
          <a:xfrm>
            <a:off x="5146704" y="3152774"/>
            <a:ext cx="1898592" cy="552450"/>
          </a:xfrm>
          <a:prstGeom prst="rect">
            <a:avLst/>
          </a:prstGeom>
          <a:noFill/>
        </p:spPr>
        <p:txBody>
          <a:bodyPr wrap="square" lIns="0" tIns="0" rIns="0" bIns="0" anchor="t">
            <a:spAutoFit/>
          </a:bodyPr>
          <a:lstStyle/>
          <a:p>
            <a:pPr algn="l"/>
            <a:r>
              <a:rPr lang="en-IN" sz="3600" b="1" i="0" u="none" dirty="0">
                <a:solidFill>
                  <a:srgbClr val="F7DF1E"/>
                </a:solidFill>
                <a:latin typeface="Urbanist"/>
              </a:rPr>
              <a:t>Welcome</a:t>
            </a:r>
            <a:endParaRPr sz="3600" b="1" i="0" u="none" dirty="0">
              <a:solidFill>
                <a:srgbClr val="F7DF1E"/>
              </a:solidFill>
              <a:latin typeface="Urbanist"/>
            </a:endParaRPr>
          </a:p>
        </p:txBody>
      </p:sp>
      <p:sp>
        <p:nvSpPr>
          <p:cNvPr id="14" name="TextBox 13">
            <a:extLst>
              <a:ext uri="{FF2B5EF4-FFF2-40B4-BE49-F238E27FC236}">
                <a16:creationId xmlns:a16="http://schemas.microsoft.com/office/drawing/2014/main" id="{79C2C5F3-5CDE-6718-EC4A-031243423AD0}"/>
              </a:ext>
            </a:extLst>
          </p:cNvPr>
          <p:cNvSpPr txBox="1"/>
          <p:nvPr/>
        </p:nvSpPr>
        <p:spPr>
          <a:xfrm>
            <a:off x="810705" y="1442301"/>
            <a:ext cx="3861185" cy="369332"/>
          </a:xfrm>
          <a:prstGeom prst="rect">
            <a:avLst/>
          </a:prstGeom>
          <a:noFill/>
        </p:spPr>
        <p:txBody>
          <a:bodyPr wrap="square" rtlCol="0">
            <a:spAutoFit/>
          </a:bodyPr>
          <a:lstStyle/>
          <a:p>
            <a:endParaRPr lang="en-IN" dirty="0"/>
          </a:p>
        </p:txBody>
      </p:sp>
      <p:sp>
        <p:nvSpPr>
          <p:cNvPr id="24" name="Rectangle 13">
            <a:extLst>
              <a:ext uri="{FF2B5EF4-FFF2-40B4-BE49-F238E27FC236}">
                <a16:creationId xmlns:a16="http://schemas.microsoft.com/office/drawing/2014/main" id="{D833AFD8-2D7E-29DC-CC9B-A9FBBDE454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a:rPr>
              <a:t>⚙️ Syntax and Arguments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Google Sans"/>
              </a:rPr>
              <a:t>The </a:t>
            </a:r>
            <a:r>
              <a:rPr kumimoji="0" lang="en-US" altLang="en-US" sz="10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forEach</a:t>
            </a:r>
            <a:r>
              <a:rPr kumimoji="0" lang="en-US" altLang="en-US" sz="1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Google Sans"/>
              </a:rPr>
              <a:t> method takes a callback function as its argument. This callback function can accept up to </a:t>
            </a:r>
            <a:r>
              <a:rPr kumimoji="0" lang="en-US" altLang="en-US" sz="1200" b="1" i="0" u="none" strike="noStrike" cap="none" normalizeH="0" baseline="0" dirty="0">
                <a:ln>
                  <a:noFill/>
                </a:ln>
                <a:solidFill>
                  <a:schemeClr val="tx1"/>
                </a:solidFill>
                <a:effectLst/>
                <a:latin typeface="Google Sans"/>
              </a:rPr>
              <a:t>three arguments</a:t>
            </a:r>
            <a:r>
              <a:rPr kumimoji="0" lang="en-US" altLang="en-US" sz="1200" b="0" i="0" u="none" strike="noStrike" cap="none" normalizeH="0" baseline="0" dirty="0">
                <a:ln>
                  <a:noFill/>
                </a:ln>
                <a:solidFill>
                  <a:schemeClr val="tx1"/>
                </a:solidFill>
                <a:effectLst/>
                <a:latin typeface="Google Sans"/>
              </a:rPr>
              <a:t> in this exact order:</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Google Sans"/>
              </a:rPr>
              <a:t>Element</a:t>
            </a:r>
            <a:r>
              <a:rPr kumimoji="0" lang="en-US" altLang="en-US" sz="1200" b="0" i="0" u="none" strike="noStrike" cap="none" normalizeH="0" baseline="0" dirty="0">
                <a:ln>
                  <a:noFill/>
                </a:ln>
                <a:solidFill>
                  <a:schemeClr val="tx1"/>
                </a:solidFill>
                <a:effectLst/>
                <a:latin typeface="Google Sans"/>
              </a:rPr>
              <a:t> (required): The current item being processed.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1" i="0" u="none" strike="noStrike" cap="none" normalizeH="0" baseline="0" dirty="0">
                <a:ln>
                  <a:noFill/>
                </a:ln>
                <a:solidFill>
                  <a:schemeClr val="tx1"/>
                </a:solidFill>
                <a:effectLst/>
                <a:latin typeface="Google Sans"/>
              </a:rPr>
              <a:t>Index</a:t>
            </a:r>
            <a:r>
              <a:rPr kumimoji="0" lang="en-US" altLang="en-US" sz="1200" b="0" i="0" u="none" strike="noStrike" cap="none" normalizeH="0" baseline="0" dirty="0">
                <a:ln>
                  <a:noFill/>
                </a:ln>
                <a:solidFill>
                  <a:schemeClr val="tx1"/>
                </a:solidFill>
                <a:effectLst/>
                <a:latin typeface="Google Sans"/>
              </a:rPr>
              <a:t> (optional): The index number of the current item.</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1" i="0" u="none" strike="noStrike" cap="none" normalizeH="0" baseline="0" dirty="0">
                <a:ln>
                  <a:noFill/>
                </a:ln>
                <a:solidFill>
                  <a:schemeClr val="tx1"/>
                </a:solidFill>
                <a:effectLst/>
                <a:latin typeface="Google Sans"/>
              </a:rPr>
              <a:t>Array</a:t>
            </a:r>
            <a:r>
              <a:rPr kumimoji="0" lang="en-US" altLang="en-US" sz="1200" b="0" i="0" u="none" strike="noStrike" cap="none" normalizeH="0" baseline="0" dirty="0">
                <a:ln>
                  <a:noFill/>
                </a:ln>
                <a:solidFill>
                  <a:schemeClr val="tx1"/>
                </a:solidFill>
                <a:effectLst/>
                <a:latin typeface="Google Sans"/>
              </a:rPr>
              <a:t> (optional): The entire array </a:t>
            </a:r>
            <a:r>
              <a:rPr kumimoji="0" lang="en-US" altLang="en-US" sz="10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forEach</a:t>
            </a:r>
            <a:r>
              <a:rPr kumimoji="0" lang="en-US" altLang="en-US" sz="1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Google Sans"/>
              </a:rPr>
              <a:t> was called upon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7646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400675" cy="553998"/>
          </a:xfrm>
          <a:prstGeom prst="rect">
            <a:avLst/>
          </a:prstGeom>
          <a:noFill/>
        </p:spPr>
        <p:txBody>
          <a:bodyPr wrap="square" lIns="0" tIns="0" rIns="0" bIns="0" anchor="t">
            <a:spAutoFit/>
          </a:bodyPr>
          <a:lstStyle/>
          <a:p>
            <a:r>
              <a:rPr lang="en-IN" sz="3600" b="1" dirty="0">
                <a:solidFill>
                  <a:srgbClr val="FFFFFF"/>
                </a:solidFill>
                <a:latin typeface="Urbanist"/>
              </a:rPr>
              <a:t>01. </a:t>
            </a:r>
            <a:r>
              <a:rPr sz="3600" b="1" i="0" u="none" dirty="0">
                <a:solidFill>
                  <a:srgbClr val="FFFFFF"/>
                </a:solidFill>
                <a:latin typeface="Urbanist"/>
              </a:rPr>
              <a:t>Understanding </a:t>
            </a:r>
            <a:r>
              <a:rPr sz="3600" b="1" i="0" u="none" dirty="0" err="1">
                <a:solidFill>
                  <a:srgbClr val="F7DF1E"/>
                </a:solidFill>
                <a:latin typeface="Urbanist"/>
              </a:rPr>
              <a:t>forEach</a:t>
            </a:r>
            <a:r>
              <a:rPr sz="3600" b="1" i="0" u="none" dirty="0">
                <a:solidFill>
                  <a:srgbClr val="F7DF1E"/>
                </a:solidFill>
                <a:latin typeface="Urbanist"/>
              </a:rPr>
              <a:t>()</a:t>
            </a:r>
          </a:p>
        </p:txBody>
      </p:sp>
      <p:sp>
        <p:nvSpPr>
          <p:cNvPr id="5" name="TextBox 4"/>
          <p:cNvSpPr txBox="1"/>
          <p:nvPr/>
        </p:nvSpPr>
        <p:spPr>
          <a:xfrm>
            <a:off x="571500" y="1487752"/>
            <a:ext cx="11334554" cy="1083630"/>
          </a:xfrm>
          <a:prstGeom prst="rect">
            <a:avLst/>
          </a:prstGeom>
          <a:noFill/>
        </p:spPr>
        <p:txBody>
          <a:bodyPr wrap="square" lIns="0" tIns="0" rIns="0" bIns="0" anchor="t">
            <a:spAutoFit/>
          </a:bodyPr>
          <a:lstStyle/>
          <a:p>
            <a:pPr>
              <a:lnSpc>
                <a:spcPts val="2879"/>
              </a:lnSpc>
            </a:pPr>
            <a:r>
              <a:rPr lang="en-US" dirty="0">
                <a:solidFill>
                  <a:schemeClr val="accent1">
                    <a:lumMod val="20000"/>
                    <a:lumOff val="80000"/>
                  </a:schemeClr>
                </a:solidFill>
              </a:rPr>
              <a:t>The </a:t>
            </a:r>
            <a:r>
              <a:rPr lang="en-US" dirty="0" err="1">
                <a:solidFill>
                  <a:schemeClr val="accent1">
                    <a:lumMod val="20000"/>
                    <a:lumOff val="80000"/>
                  </a:schemeClr>
                </a:solidFill>
              </a:rPr>
              <a:t>forEach</a:t>
            </a:r>
            <a:r>
              <a:rPr lang="en-US" dirty="0">
                <a:solidFill>
                  <a:schemeClr val="accent1">
                    <a:lumMod val="20000"/>
                    <a:lumOff val="80000"/>
                  </a:schemeClr>
                </a:solidFill>
              </a:rPr>
              <a:t>() method is used to loop through arrays and execute a specific function once for each array element. It is a cleaner, more modern alternative to traditional for loops when you need to run code for every item in a list.</a:t>
            </a:r>
            <a:r>
              <a:rPr sz="1800" b="0" i="0" u="none" dirty="0">
                <a:solidFill>
                  <a:schemeClr val="accent1">
                    <a:lumMod val="20000"/>
                    <a:lumOff val="80000"/>
                  </a:schemeClr>
                </a:solidFill>
                <a:latin typeface="Urbanist"/>
              </a:rPr>
              <a:t> </a:t>
            </a:r>
            <a:r>
              <a:rPr sz="1800" b="0" i="0" u="none" dirty="0">
                <a:solidFill>
                  <a:srgbClr val="CCCCCC"/>
                </a:solidFill>
                <a:latin typeface="Urbanist"/>
              </a:rPr>
              <a:t>once for every element in an array</a:t>
            </a:r>
            <a:r>
              <a:rPr lang="en-IN" sz="1800" b="0" i="0" u="none" dirty="0">
                <a:solidFill>
                  <a:srgbClr val="CCCCCC"/>
                </a:solidFill>
                <a:latin typeface="Urbanist"/>
              </a:rPr>
              <a:t>.</a:t>
            </a:r>
            <a:endParaRPr sz="1800" b="0" i="0" u="none" dirty="0">
              <a:solidFill>
                <a:srgbClr val="CCCCCC"/>
              </a:solidFill>
              <a:latin typeface="Urbanist"/>
            </a:endParaRPr>
          </a:p>
        </p:txBody>
      </p:sp>
      <p:sp>
        <p:nvSpPr>
          <p:cNvPr id="14" name="TextBox 13">
            <a:extLst>
              <a:ext uri="{FF2B5EF4-FFF2-40B4-BE49-F238E27FC236}">
                <a16:creationId xmlns:a16="http://schemas.microsoft.com/office/drawing/2014/main" id="{16C30710-B072-EF69-8880-C2EAC47F4930}"/>
              </a:ext>
            </a:extLst>
          </p:cNvPr>
          <p:cNvSpPr txBox="1"/>
          <p:nvPr/>
        </p:nvSpPr>
        <p:spPr>
          <a:xfrm>
            <a:off x="810705" y="1442301"/>
            <a:ext cx="3861185" cy="369332"/>
          </a:xfrm>
          <a:prstGeom prst="rect">
            <a:avLst/>
          </a:prstGeom>
          <a:noFill/>
        </p:spPr>
        <p:txBody>
          <a:bodyPr wrap="square" rtlCol="0">
            <a:spAutoFit/>
          </a:bodyPr>
          <a:lstStyle/>
          <a:p>
            <a:endParaRPr lang="en-IN" dirty="0"/>
          </a:p>
        </p:txBody>
      </p:sp>
      <p:sp>
        <p:nvSpPr>
          <p:cNvPr id="26" name="TextBox 25">
            <a:extLst>
              <a:ext uri="{FF2B5EF4-FFF2-40B4-BE49-F238E27FC236}">
                <a16:creationId xmlns:a16="http://schemas.microsoft.com/office/drawing/2014/main" id="{E2F7D179-B71F-EFCC-CD87-E99DA596E4EA}"/>
              </a:ext>
            </a:extLst>
          </p:cNvPr>
          <p:cNvSpPr txBox="1"/>
          <p:nvPr/>
        </p:nvSpPr>
        <p:spPr>
          <a:xfrm>
            <a:off x="469573" y="2795349"/>
            <a:ext cx="11538408" cy="406265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20000"/>
                    <a:lumOff val="80000"/>
                  </a:schemeClr>
                </a:solidFill>
                <a:effectLst/>
                <a:latin typeface="Google Sans"/>
              </a:rPr>
              <a:t>⚙️ Syntax and Arguments</a:t>
            </a:r>
            <a:endParaRPr kumimoji="0" lang="en-US" altLang="en-US" sz="2400" b="0" i="0" u="none" strike="noStrike" cap="none" normalizeH="0" baseline="0" dirty="0">
              <a:ln>
                <a:noFill/>
              </a:ln>
              <a:solidFill>
                <a:schemeClr val="accent1">
                  <a:lumMod val="20000"/>
                  <a:lumOff val="8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1">
                    <a:lumMod val="20000"/>
                    <a:lumOff val="80000"/>
                  </a:schemeClr>
                </a:solidFill>
                <a:effectLst/>
                <a:latin typeface="Google Sans"/>
              </a:rPr>
              <a:t>The foreach() method takes a callback function as its argument. This callback function can accept up to </a:t>
            </a:r>
            <a:r>
              <a:rPr kumimoji="0" lang="en-US" altLang="en-US" sz="1800" b="1" i="0" u="none" strike="noStrike" cap="none" normalizeH="0" baseline="0" dirty="0">
                <a:ln>
                  <a:noFill/>
                </a:ln>
                <a:solidFill>
                  <a:schemeClr val="accent1">
                    <a:lumMod val="20000"/>
                    <a:lumOff val="80000"/>
                  </a:schemeClr>
                </a:solidFill>
                <a:effectLst/>
                <a:latin typeface="Google Sans"/>
              </a:rPr>
              <a:t>three arguments</a:t>
            </a:r>
            <a:r>
              <a:rPr kumimoji="0" lang="en-US" altLang="en-US" sz="1800" b="0" i="0" u="none" strike="noStrike" cap="none" normalizeH="0" baseline="0" dirty="0">
                <a:ln>
                  <a:noFill/>
                </a:ln>
                <a:solidFill>
                  <a:schemeClr val="accent1">
                    <a:lumMod val="20000"/>
                    <a:lumOff val="80000"/>
                  </a:schemeClr>
                </a:solidFill>
                <a:effectLst/>
                <a:latin typeface="Google Sans"/>
              </a:rPr>
              <a:t> in this exact order:</a:t>
            </a:r>
            <a:endParaRPr kumimoji="0" lang="en-US" altLang="en-US" sz="1050" b="0" i="0" u="none" strike="noStrike" cap="none" normalizeH="0" baseline="0" dirty="0">
              <a:ln>
                <a:noFill/>
              </a:ln>
              <a:solidFill>
                <a:schemeClr val="accent1">
                  <a:lumMod val="20000"/>
                  <a:lumOff val="8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accent1">
                    <a:lumMod val="20000"/>
                    <a:lumOff val="80000"/>
                  </a:schemeClr>
                </a:solidFill>
                <a:effectLst/>
                <a:latin typeface="Google Sans"/>
              </a:rPr>
              <a:t>Element</a:t>
            </a:r>
            <a:r>
              <a:rPr kumimoji="0" lang="en-US" altLang="en-US" sz="1800" b="0" i="0" u="none" strike="noStrike" cap="none" normalizeH="0" baseline="0" dirty="0">
                <a:ln>
                  <a:noFill/>
                </a:ln>
                <a:solidFill>
                  <a:schemeClr val="accent1">
                    <a:lumMod val="20000"/>
                    <a:lumOff val="80000"/>
                  </a:schemeClr>
                </a:solidFill>
                <a:effectLst/>
                <a:latin typeface="Google Sans"/>
              </a:rPr>
              <a:t> (required): The current item being processed.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accent1">
                    <a:lumMod val="20000"/>
                    <a:lumOff val="80000"/>
                  </a:schemeClr>
                </a:solidFill>
                <a:effectLst/>
                <a:latin typeface="Google Sans"/>
              </a:rPr>
              <a:t>Index</a:t>
            </a:r>
            <a:r>
              <a:rPr kumimoji="0" lang="en-US" altLang="en-US" sz="1800" b="0" i="0" u="none" strike="noStrike" cap="none" normalizeH="0" baseline="0" dirty="0">
                <a:ln>
                  <a:noFill/>
                </a:ln>
                <a:solidFill>
                  <a:schemeClr val="accent1">
                    <a:lumMod val="20000"/>
                    <a:lumOff val="80000"/>
                  </a:schemeClr>
                </a:solidFill>
                <a:effectLst/>
                <a:latin typeface="Google Sans"/>
              </a:rPr>
              <a:t> (optional): The index number of the current item.</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accent1">
                    <a:lumMod val="20000"/>
                    <a:lumOff val="80000"/>
                  </a:schemeClr>
                </a:solidFill>
                <a:effectLst/>
                <a:latin typeface="Google Sans"/>
              </a:rPr>
              <a:t>Array</a:t>
            </a:r>
            <a:r>
              <a:rPr kumimoji="0" lang="en-US" altLang="en-US" sz="1800" b="0" i="0" u="none" strike="noStrike" cap="none" normalizeH="0" baseline="0" dirty="0">
                <a:ln>
                  <a:noFill/>
                </a:ln>
                <a:solidFill>
                  <a:schemeClr val="accent1">
                    <a:lumMod val="20000"/>
                    <a:lumOff val="80000"/>
                  </a:schemeClr>
                </a:solidFill>
                <a:effectLst/>
                <a:latin typeface="Google Sans"/>
              </a:rPr>
              <a:t> (optional): The entire array foreach() was called upon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lang="en-US" altLang="en-US" dirty="0">
              <a:solidFill>
                <a:schemeClr val="accent1">
                  <a:lumMod val="20000"/>
                  <a:lumOff val="80000"/>
                </a:schemeClr>
              </a:solidFill>
              <a:latin typeface="Google Sans"/>
            </a:endParaRPr>
          </a:p>
          <a:p>
            <a:r>
              <a:rPr lang="en-IN" dirty="0">
                <a:solidFill>
                  <a:schemeClr val="accent1">
                    <a:lumMod val="20000"/>
                    <a:lumOff val="80000"/>
                  </a:schemeClr>
                </a:solidFill>
              </a:rPr>
              <a:t>let numbers = [10, 20, 30];</a:t>
            </a:r>
          </a:p>
          <a:p>
            <a:endParaRPr lang="en-IN" dirty="0">
              <a:solidFill>
                <a:schemeClr val="accent1">
                  <a:lumMod val="20000"/>
                  <a:lumOff val="80000"/>
                </a:schemeClr>
              </a:solidFill>
            </a:endParaRPr>
          </a:p>
          <a:p>
            <a:r>
              <a:rPr lang="en-IN" dirty="0">
                <a:solidFill>
                  <a:schemeClr val="accent1">
                    <a:lumMod val="20000"/>
                    <a:lumOff val="80000"/>
                  </a:schemeClr>
                </a:solidFill>
              </a:rPr>
              <a:t>numbers.forEach((a, b, c) =&gt; {</a:t>
            </a:r>
          </a:p>
          <a:p>
            <a:r>
              <a:rPr lang="en-IN" dirty="0">
                <a:solidFill>
                  <a:schemeClr val="accent1">
                    <a:lumMod val="20000"/>
                    <a:lumOff val="80000"/>
                  </a:schemeClr>
                </a:solidFill>
              </a:rPr>
              <a:t>    console.log(a);</a:t>
            </a:r>
          </a:p>
          <a:p>
            <a:r>
              <a:rPr lang="en-IN" dirty="0">
                <a:solidFill>
                  <a:schemeClr val="accent1">
                    <a:lumMod val="20000"/>
                    <a:lumOff val="80000"/>
                  </a:schemeClr>
                </a:solidFill>
              </a:rPr>
              <a:t>    console.log(b);</a:t>
            </a:r>
          </a:p>
          <a:p>
            <a:r>
              <a:rPr lang="en-IN" dirty="0">
                <a:solidFill>
                  <a:schemeClr val="accent1">
                    <a:lumMod val="20000"/>
                    <a:lumOff val="80000"/>
                  </a:schemeClr>
                </a:solidFill>
              </a:rPr>
              <a:t>    console.log(c);</a:t>
            </a:r>
          </a:p>
          <a:p>
            <a:r>
              <a:rPr lang="en-IN" dirty="0">
                <a:solidFill>
                  <a:schemeClr val="accent1">
                    <a:lumMod val="20000"/>
                    <a:lumOff val="80000"/>
                  </a:schemeClr>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0" y="126247"/>
            <a:ext cx="4030503" cy="830997"/>
          </a:xfrm>
          <a:prstGeom prst="rect">
            <a:avLst/>
          </a:prstGeom>
          <a:noFill/>
        </p:spPr>
        <p:txBody>
          <a:bodyPr wrap="square" lIns="0" tIns="0" rIns="0" bIns="0" anchor="t">
            <a:spAutoFit/>
          </a:bodyPr>
          <a:lstStyle/>
          <a:p>
            <a:pPr algn="ctr"/>
            <a:r>
              <a:rPr sz="5400" b="1" i="0" u="none" dirty="0" err="1">
                <a:solidFill>
                  <a:srgbClr val="F7DF1E"/>
                </a:solidFill>
                <a:latin typeface="Urbanist"/>
              </a:rPr>
              <a:t>forEach</a:t>
            </a:r>
            <a:r>
              <a:rPr sz="5400" b="1" i="0" u="none" dirty="0">
                <a:solidFill>
                  <a:srgbClr val="F7DF1E"/>
                </a:solidFill>
                <a:latin typeface="Urbanist"/>
              </a:rPr>
              <a:t>()</a:t>
            </a:r>
          </a:p>
        </p:txBody>
      </p:sp>
      <p:pic>
        <p:nvPicPr>
          <p:cNvPr id="7" name="Picture 6">
            <a:extLst>
              <a:ext uri="{FF2B5EF4-FFF2-40B4-BE49-F238E27FC236}">
                <a16:creationId xmlns:a16="http://schemas.microsoft.com/office/drawing/2014/main" id="{F283E81D-CCA5-B8E7-E48E-7B3D5A982E76}"/>
              </a:ext>
            </a:extLst>
          </p:cNvPr>
          <p:cNvPicPr>
            <a:picLocks noChangeAspect="1"/>
          </p:cNvPicPr>
          <p:nvPr/>
        </p:nvPicPr>
        <p:blipFill>
          <a:blip r:embed="rId3"/>
          <a:stretch>
            <a:fillRect/>
          </a:stretch>
        </p:blipFill>
        <p:spPr>
          <a:xfrm>
            <a:off x="0" y="945396"/>
            <a:ext cx="12192000" cy="59126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571500" y="571500"/>
            <a:ext cx="11601450" cy="553998"/>
          </a:xfrm>
          <a:prstGeom prst="rect">
            <a:avLst/>
          </a:prstGeom>
          <a:noFill/>
        </p:spPr>
        <p:txBody>
          <a:bodyPr wrap="square" lIns="0" tIns="0" rIns="0" bIns="0" anchor="t">
            <a:spAutoFit/>
          </a:bodyPr>
          <a:lstStyle/>
          <a:p>
            <a:r>
              <a:rPr lang="en-IN" sz="3600" b="1" dirty="0">
                <a:solidFill>
                  <a:srgbClr val="FFFFFF"/>
                </a:solidFill>
                <a:latin typeface="Urbanist"/>
              </a:rPr>
              <a:t>02. </a:t>
            </a:r>
            <a:r>
              <a:rPr sz="3600" b="1" i="0" u="none" dirty="0">
                <a:solidFill>
                  <a:srgbClr val="FFFFFF"/>
                </a:solidFill>
                <a:latin typeface="Urbanist"/>
              </a:rPr>
              <a:t>Understanding </a:t>
            </a:r>
            <a:r>
              <a:rPr sz="3600" b="1" i="0" u="none" dirty="0" err="1">
                <a:solidFill>
                  <a:srgbClr val="F7DF1E"/>
                </a:solidFill>
                <a:latin typeface="Urbanist"/>
              </a:rPr>
              <a:t>concat</a:t>
            </a:r>
            <a:r>
              <a:rPr sz="3600" b="1" i="0" u="none" dirty="0">
                <a:solidFill>
                  <a:srgbClr val="F7DF1E"/>
                </a:solidFill>
                <a:latin typeface="Urbanist"/>
              </a:rPr>
              <a:t>()</a:t>
            </a:r>
          </a:p>
        </p:txBody>
      </p:sp>
      <p:sp>
        <p:nvSpPr>
          <p:cNvPr id="15" name="TextBox 14">
            <a:extLst>
              <a:ext uri="{FF2B5EF4-FFF2-40B4-BE49-F238E27FC236}">
                <a16:creationId xmlns:a16="http://schemas.microsoft.com/office/drawing/2014/main" id="{31BD31BE-1BBE-5062-D9B9-FC7F0C4B9365}"/>
              </a:ext>
            </a:extLst>
          </p:cNvPr>
          <p:cNvSpPr txBox="1"/>
          <p:nvPr/>
        </p:nvSpPr>
        <p:spPr>
          <a:xfrm>
            <a:off x="510029" y="1512183"/>
            <a:ext cx="10557628" cy="646331"/>
          </a:xfrm>
          <a:prstGeom prst="rect">
            <a:avLst/>
          </a:prstGeom>
          <a:noFill/>
        </p:spPr>
        <p:txBody>
          <a:bodyPr wrap="square">
            <a:spAutoFit/>
          </a:bodyPr>
          <a:lstStyle/>
          <a:p>
            <a:r>
              <a:rPr lang="en-US" dirty="0">
                <a:solidFill>
                  <a:schemeClr val="accent1">
                    <a:lumMod val="20000"/>
                    <a:lumOff val="80000"/>
                  </a:schemeClr>
                </a:solidFill>
                <a:latin typeface="+mj-lt"/>
              </a:rPr>
              <a:t>The </a:t>
            </a:r>
            <a:r>
              <a:rPr lang="en-US" b="0" u="none" strike="noStrike" dirty="0" err="1">
                <a:solidFill>
                  <a:schemeClr val="accent1">
                    <a:lumMod val="20000"/>
                    <a:lumOff val="80000"/>
                  </a:schemeClr>
                </a:solidFill>
                <a:effectLst/>
                <a:latin typeface="+mj-lt"/>
              </a:rPr>
              <a:t>concat</a:t>
            </a:r>
            <a:r>
              <a:rPr lang="en-US" b="0" u="none" strike="noStrike" dirty="0">
                <a:solidFill>
                  <a:schemeClr val="accent1">
                    <a:lumMod val="20000"/>
                    <a:lumOff val="80000"/>
                  </a:schemeClr>
                </a:solidFill>
                <a:effectLst/>
                <a:latin typeface="+mj-lt"/>
              </a:rPr>
              <a:t>() method</a:t>
            </a:r>
            <a:r>
              <a:rPr lang="en-US" dirty="0">
                <a:solidFill>
                  <a:schemeClr val="accent1">
                    <a:lumMod val="20000"/>
                    <a:lumOff val="80000"/>
                  </a:schemeClr>
                </a:solidFill>
                <a:latin typeface="+mj-lt"/>
              </a:rPr>
              <a:t> is used to merge two or more arrays or strings together. This method does not change the existing arrays or strings; instead, it </a:t>
            </a:r>
            <a:r>
              <a:rPr lang="en-US" b="1" u="none" strike="noStrike" dirty="0">
                <a:solidFill>
                  <a:schemeClr val="accent1">
                    <a:lumMod val="20000"/>
                    <a:lumOff val="80000"/>
                  </a:schemeClr>
                </a:solidFill>
                <a:effectLst/>
                <a:latin typeface="+mj-lt"/>
              </a:rPr>
              <a:t>returns a new array or string</a:t>
            </a:r>
            <a:endParaRPr lang="en-IN" dirty="0">
              <a:solidFill>
                <a:schemeClr val="accent1">
                  <a:lumMod val="20000"/>
                  <a:lumOff val="80000"/>
                </a:schemeClr>
              </a:solidFill>
              <a:latin typeface="+mj-lt"/>
            </a:endParaRPr>
          </a:p>
        </p:txBody>
      </p:sp>
      <p:sp>
        <p:nvSpPr>
          <p:cNvPr id="17" name="Rectangle 1">
            <a:extLst>
              <a:ext uri="{FF2B5EF4-FFF2-40B4-BE49-F238E27FC236}">
                <a16:creationId xmlns:a16="http://schemas.microsoft.com/office/drawing/2014/main" id="{5B459CF1-8C6D-5C01-8517-43C272283BE8}"/>
              </a:ext>
            </a:extLst>
          </p:cNvPr>
          <p:cNvSpPr>
            <a:spLocks noChangeArrowheads="1"/>
          </p:cNvSpPr>
          <p:nvPr/>
        </p:nvSpPr>
        <p:spPr bwMode="auto">
          <a:xfrm>
            <a:off x="510029" y="2365778"/>
            <a:ext cx="1068056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400" dirty="0">
                <a:solidFill>
                  <a:schemeClr val="accent1">
                    <a:lumMod val="20000"/>
                    <a:lumOff val="80000"/>
                  </a:schemeClr>
                </a:solidFill>
                <a:latin typeface="Google Sans"/>
              </a:rPr>
              <a:t>⚙️ Syntax and Arguments</a:t>
            </a:r>
            <a:endParaRPr lang="en-US" altLang="en-US" sz="2400" dirty="0">
              <a:solidFill>
                <a:schemeClr val="accent1">
                  <a:lumMod val="20000"/>
                  <a:lumOff val="80000"/>
                </a:schemeClr>
              </a:solidFill>
            </a:endParaRPr>
          </a:p>
          <a:p>
            <a:r>
              <a:rPr lang="en-US" dirty="0">
                <a:solidFill>
                  <a:schemeClr val="accent1">
                    <a:lumMod val="20000"/>
                    <a:lumOff val="80000"/>
                  </a:schemeClr>
                </a:solidFill>
              </a:rPr>
              <a:t>The syntax of the </a:t>
            </a:r>
            <a:r>
              <a:rPr lang="en-US" dirty="0" err="1">
                <a:solidFill>
                  <a:schemeClr val="accent1">
                    <a:lumMod val="20000"/>
                    <a:lumOff val="80000"/>
                  </a:schemeClr>
                </a:solidFill>
              </a:rPr>
              <a:t>concat</a:t>
            </a:r>
            <a:r>
              <a:rPr lang="en-US" dirty="0">
                <a:solidFill>
                  <a:schemeClr val="accent1">
                    <a:lumMod val="20000"/>
                    <a:lumOff val="80000"/>
                  </a:schemeClr>
                </a:solidFill>
              </a:rPr>
              <a:t>() method is array1.concat(array2, array3, ...). Here, array1 represents the </a:t>
            </a:r>
            <a:r>
              <a:rPr lang="en-US" b="1" dirty="0">
                <a:solidFill>
                  <a:schemeClr val="accent1">
                    <a:lumMod val="20000"/>
                    <a:lumOff val="80000"/>
                  </a:schemeClr>
                </a:solidFill>
              </a:rPr>
              <a:t>original array on which the </a:t>
            </a:r>
            <a:r>
              <a:rPr lang="en-US" b="1" dirty="0" err="1">
                <a:solidFill>
                  <a:schemeClr val="accent1">
                    <a:lumMod val="20000"/>
                    <a:lumOff val="80000"/>
                  </a:schemeClr>
                </a:solidFill>
              </a:rPr>
              <a:t>concat</a:t>
            </a:r>
            <a:r>
              <a:rPr lang="en-US" b="1" dirty="0">
                <a:solidFill>
                  <a:schemeClr val="accent1">
                    <a:lumMod val="20000"/>
                    <a:lumOff val="80000"/>
                  </a:schemeClr>
                </a:solidFill>
              </a:rPr>
              <a:t>() method is called</a:t>
            </a:r>
            <a:r>
              <a:rPr lang="en-US" dirty="0">
                <a:solidFill>
                  <a:schemeClr val="accent1">
                    <a:lumMod val="20000"/>
                    <a:lumOff val="80000"/>
                  </a:schemeClr>
                </a:solidFill>
              </a:rPr>
              <a:t>. The </a:t>
            </a:r>
            <a:r>
              <a:rPr lang="en-US" dirty="0" err="1">
                <a:solidFill>
                  <a:schemeClr val="accent1">
                    <a:lumMod val="20000"/>
                    <a:lumOff val="80000"/>
                  </a:schemeClr>
                </a:solidFill>
              </a:rPr>
              <a:t>concat</a:t>
            </a:r>
            <a:r>
              <a:rPr lang="en-US" dirty="0">
                <a:solidFill>
                  <a:schemeClr val="accent1">
                    <a:lumMod val="20000"/>
                    <a:lumOff val="80000"/>
                  </a:schemeClr>
                </a:solidFill>
              </a:rPr>
              <a:t>() is the method used to combine the elements, while array2, array3, and other arguments represent the </a:t>
            </a:r>
            <a:r>
              <a:rPr lang="en-US" b="1" dirty="0">
                <a:solidFill>
                  <a:schemeClr val="accent1">
                    <a:lumMod val="20000"/>
                    <a:lumOff val="80000"/>
                  </a:schemeClr>
                </a:solidFill>
              </a:rPr>
              <a:t>arrays or values that need to be added</a:t>
            </a:r>
            <a:r>
              <a:rPr lang="en-US" dirty="0">
                <a:solidFill>
                  <a:schemeClr val="accent1">
                    <a:lumMod val="20000"/>
                    <a:lumOff val="80000"/>
                  </a:schemeClr>
                </a:solidFill>
              </a:rPr>
              <a:t> to the original array. The method combines all the given elements in the same order and returns a </a:t>
            </a:r>
            <a:r>
              <a:rPr lang="en-US" b="1" dirty="0">
                <a:solidFill>
                  <a:schemeClr val="accent1">
                    <a:lumMod val="20000"/>
                    <a:lumOff val="80000"/>
                  </a:schemeClr>
                </a:solidFill>
              </a:rPr>
              <a:t>new array</a:t>
            </a:r>
            <a:r>
              <a:rPr lang="en-US" dirty="0">
                <a:solidFill>
                  <a:schemeClr val="accent1">
                    <a:lumMod val="20000"/>
                    <a:lumOff val="80000"/>
                  </a:schemeClr>
                </a:solidFill>
              </a:rPr>
              <a:t> containing the combined elements.</a:t>
            </a:r>
          </a:p>
          <a:p>
            <a:endParaRPr lang="en-US" dirty="0">
              <a:solidFill>
                <a:schemeClr val="accent1">
                  <a:lumMod val="20000"/>
                  <a:lumOff val="80000"/>
                </a:schemeClr>
              </a:solidFill>
            </a:endParaRPr>
          </a:p>
          <a:p>
            <a:r>
              <a:rPr lang="en-US" dirty="0">
                <a:solidFill>
                  <a:schemeClr val="accent1">
                    <a:lumMod val="20000"/>
                    <a:lumOff val="80000"/>
                  </a:schemeClr>
                </a:solidFill>
              </a:rPr>
              <a:t>Example:</a:t>
            </a:r>
          </a:p>
          <a:p>
            <a:r>
              <a:rPr lang="en-US" dirty="0">
                <a:solidFill>
                  <a:schemeClr val="accent1">
                    <a:lumMod val="20000"/>
                    <a:lumOff val="80000"/>
                  </a:schemeClr>
                </a:solidFill>
              </a:rPr>
              <a:t>array1.concat(array2, array3);</a:t>
            </a:r>
          </a:p>
          <a:p>
            <a:endParaRPr lang="en-US" dirty="0">
              <a:solidFill>
                <a:schemeClr val="accent1">
                  <a:lumMod val="20000"/>
                  <a:lumOff val="80000"/>
                </a:schemeClr>
              </a:solidFill>
            </a:endParaRPr>
          </a:p>
          <a:p>
            <a:r>
              <a:rPr lang="en-IN" dirty="0">
                <a:solidFill>
                  <a:srgbClr val="CCCCCC"/>
                </a:solidFill>
                <a:latin typeface="Urbanist"/>
              </a:rPr>
              <a:t>const arr1 = ['a', 'b’];</a:t>
            </a:r>
          </a:p>
          <a:p>
            <a:r>
              <a:rPr lang="en-IN" dirty="0">
                <a:solidFill>
                  <a:srgbClr val="CCCCCC"/>
                </a:solidFill>
                <a:latin typeface="Urbanist"/>
              </a:rPr>
              <a:t>const arr2 = ['c', 'd’];</a:t>
            </a:r>
          </a:p>
          <a:p>
            <a:r>
              <a:rPr lang="en-US" dirty="0">
                <a:solidFill>
                  <a:srgbClr val="CCCCCC"/>
                </a:solidFill>
                <a:latin typeface="Urbanist"/>
              </a:rPr>
              <a:t>const merged = arr1.concat(arr2);</a:t>
            </a:r>
          </a:p>
          <a:p>
            <a:r>
              <a:rPr lang="en-US" dirty="0">
                <a:solidFill>
                  <a:srgbClr val="CCCCCC"/>
                </a:solidFill>
                <a:latin typeface="Urbanist"/>
              </a:rPr>
              <a:t>// merged is ['a', 'b', 'c', 'd']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0" y="78849"/>
            <a:ext cx="3910488" cy="830997"/>
          </a:xfrm>
          <a:prstGeom prst="rect">
            <a:avLst/>
          </a:prstGeom>
          <a:noFill/>
        </p:spPr>
        <p:txBody>
          <a:bodyPr wrap="square" lIns="0" tIns="0" rIns="0" bIns="0" anchor="t">
            <a:spAutoFit/>
          </a:bodyPr>
          <a:lstStyle/>
          <a:p>
            <a:pPr algn="ctr"/>
            <a:r>
              <a:rPr sz="5400" b="1" i="0" u="none" dirty="0" err="1">
                <a:solidFill>
                  <a:srgbClr val="F7DF1E"/>
                </a:solidFill>
                <a:latin typeface="Urbanist"/>
              </a:rPr>
              <a:t>concat</a:t>
            </a:r>
            <a:r>
              <a:rPr sz="5400" b="1" i="0" u="none" dirty="0">
                <a:solidFill>
                  <a:srgbClr val="F7DF1E"/>
                </a:solidFill>
                <a:latin typeface="Urbanist"/>
              </a:rPr>
              <a:t>()</a:t>
            </a:r>
          </a:p>
        </p:txBody>
      </p:sp>
      <p:pic>
        <p:nvPicPr>
          <p:cNvPr id="7" name="Picture 6">
            <a:extLst>
              <a:ext uri="{FF2B5EF4-FFF2-40B4-BE49-F238E27FC236}">
                <a16:creationId xmlns:a16="http://schemas.microsoft.com/office/drawing/2014/main" id="{472B082D-BC59-DC76-5F15-EE1689B86649}"/>
              </a:ext>
            </a:extLst>
          </p:cNvPr>
          <p:cNvPicPr>
            <a:picLocks noChangeAspect="1"/>
          </p:cNvPicPr>
          <p:nvPr/>
        </p:nvPicPr>
        <p:blipFill>
          <a:blip r:embed="rId3"/>
          <a:stretch>
            <a:fillRect/>
          </a:stretch>
        </p:blipFill>
        <p:spPr>
          <a:xfrm>
            <a:off x="0" y="952242"/>
            <a:ext cx="12192000" cy="59057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3" name="TextBox 2"/>
          <p:cNvSpPr txBox="1"/>
          <p:nvPr/>
        </p:nvSpPr>
        <p:spPr>
          <a:xfrm>
            <a:off x="571500" y="571500"/>
            <a:ext cx="5400675" cy="553998"/>
          </a:xfrm>
          <a:prstGeom prst="rect">
            <a:avLst/>
          </a:prstGeom>
          <a:noFill/>
        </p:spPr>
        <p:txBody>
          <a:bodyPr wrap="square" lIns="0" tIns="0" rIns="0" bIns="0" anchor="t">
            <a:spAutoFit/>
          </a:bodyPr>
          <a:lstStyle/>
          <a:p>
            <a:r>
              <a:rPr lang="en-IN" sz="3600" b="1" dirty="0">
                <a:solidFill>
                  <a:srgbClr val="FFFFFF"/>
                </a:solidFill>
                <a:latin typeface="Urbanist"/>
              </a:rPr>
              <a:t>03. </a:t>
            </a:r>
            <a:r>
              <a:rPr sz="3600" b="1" i="0" u="none" dirty="0">
                <a:solidFill>
                  <a:srgbClr val="FFFFFF"/>
                </a:solidFill>
                <a:latin typeface="Urbanist"/>
              </a:rPr>
              <a:t>Understanding </a:t>
            </a:r>
            <a:r>
              <a:rPr sz="3600" b="1" i="0" u="none" dirty="0">
                <a:solidFill>
                  <a:srgbClr val="F7DF1E"/>
                </a:solidFill>
                <a:latin typeface="Urbanist"/>
              </a:rPr>
              <a:t>join()</a:t>
            </a:r>
          </a:p>
        </p:txBody>
      </p:sp>
      <p:sp>
        <p:nvSpPr>
          <p:cNvPr id="5" name="TextBox 4"/>
          <p:cNvSpPr txBox="1"/>
          <p:nvPr/>
        </p:nvSpPr>
        <p:spPr>
          <a:xfrm>
            <a:off x="571500" y="1403614"/>
            <a:ext cx="11240286" cy="1827423"/>
          </a:xfrm>
          <a:prstGeom prst="rect">
            <a:avLst/>
          </a:prstGeom>
          <a:noFill/>
        </p:spPr>
        <p:txBody>
          <a:bodyPr wrap="square" lIns="0" tIns="0" rIns="0" bIns="0" anchor="t">
            <a:spAutoFit/>
          </a:bodyPr>
          <a:lstStyle/>
          <a:p>
            <a:pPr>
              <a:lnSpc>
                <a:spcPts val="2879"/>
              </a:lnSpc>
            </a:pPr>
            <a:r>
              <a:rPr sz="1800" b="0" i="0" u="none" dirty="0">
                <a:solidFill>
                  <a:srgbClr val="CCCCCC"/>
                </a:solidFill>
                <a:latin typeface="Urbanist"/>
              </a:rPr>
              <a:t>The join() method creates and returns a new string by concatenating all of the elements in an array.</a:t>
            </a:r>
            <a:r>
              <a:rPr lang="en-IN" sz="1800" b="0" i="0" u="none" dirty="0">
                <a:solidFill>
                  <a:srgbClr val="CCCCCC"/>
                </a:solidFill>
                <a:latin typeface="Urbanist"/>
              </a:rPr>
              <a:t> </a:t>
            </a:r>
            <a:r>
              <a:rPr lang="en-US" dirty="0">
                <a:solidFill>
                  <a:srgbClr val="CCCCCC"/>
                </a:solidFill>
                <a:latin typeface="Urbanist"/>
              </a:rPr>
              <a:t>By default, the elements are separated by commas. However, you can provide an optional separator argument to specify exactly what character(s) should sit between the items. If an element is undefined or null, it is converted to an empty string.</a:t>
            </a:r>
          </a:p>
          <a:p>
            <a:pPr>
              <a:lnSpc>
                <a:spcPts val="2879"/>
              </a:lnSpc>
            </a:pPr>
            <a:endParaRPr lang="en-US" dirty="0">
              <a:solidFill>
                <a:srgbClr val="CCCCCC"/>
              </a:solidFill>
              <a:latin typeface="Urbanist"/>
            </a:endParaRPr>
          </a:p>
          <a:p>
            <a:pPr algn="l">
              <a:lnSpc>
                <a:spcPts val="2879"/>
              </a:lnSpc>
            </a:pPr>
            <a:endParaRPr sz="1800" b="0" i="0" u="none" dirty="0">
              <a:solidFill>
                <a:srgbClr val="CCCCCC"/>
              </a:solidFill>
              <a:latin typeface="Urbanist"/>
            </a:endParaRPr>
          </a:p>
        </p:txBody>
      </p:sp>
      <p:sp>
        <p:nvSpPr>
          <p:cNvPr id="9" name="TextBox 8">
            <a:extLst>
              <a:ext uri="{FF2B5EF4-FFF2-40B4-BE49-F238E27FC236}">
                <a16:creationId xmlns:a16="http://schemas.microsoft.com/office/drawing/2014/main" id="{7D1E43AC-B99C-EC7A-C931-FD2FD94D7EE6}"/>
              </a:ext>
            </a:extLst>
          </p:cNvPr>
          <p:cNvSpPr txBox="1"/>
          <p:nvPr/>
        </p:nvSpPr>
        <p:spPr>
          <a:xfrm>
            <a:off x="447675" y="2866751"/>
            <a:ext cx="11049000" cy="3785652"/>
          </a:xfrm>
          <a:prstGeom prst="rect">
            <a:avLst/>
          </a:prstGeom>
          <a:noFill/>
        </p:spPr>
        <p:txBody>
          <a:bodyPr wrap="square">
            <a:spAutoFit/>
          </a:bodyPr>
          <a:lstStyle/>
          <a:p>
            <a:r>
              <a:rPr lang="en-US" altLang="en-US" sz="2400" dirty="0">
                <a:solidFill>
                  <a:schemeClr val="accent1">
                    <a:lumMod val="20000"/>
                    <a:lumOff val="80000"/>
                  </a:schemeClr>
                </a:solidFill>
                <a:latin typeface="Google Sans"/>
              </a:rPr>
              <a:t>⚙️ Syntax and Arguments </a:t>
            </a:r>
            <a:endParaRPr lang="en-US" altLang="en-US" sz="2400" dirty="0">
              <a:solidFill>
                <a:schemeClr val="accent1">
                  <a:lumMod val="20000"/>
                  <a:lumOff val="80000"/>
                </a:schemeClr>
              </a:solidFill>
            </a:endParaRPr>
          </a:p>
          <a:p>
            <a:r>
              <a:rPr lang="en-US" dirty="0">
                <a:solidFill>
                  <a:schemeClr val="accent1">
                    <a:lumMod val="20000"/>
                    <a:lumOff val="80000"/>
                  </a:schemeClr>
                </a:solidFill>
              </a:rPr>
              <a:t>Array.join(separator) Here, array represents the </a:t>
            </a:r>
            <a:r>
              <a:rPr lang="en-US" b="1" dirty="0">
                <a:solidFill>
                  <a:schemeClr val="accent1">
                    <a:lumMod val="20000"/>
                    <a:lumOff val="80000"/>
                  </a:schemeClr>
                </a:solidFill>
              </a:rPr>
              <a:t>original array</a:t>
            </a:r>
            <a:r>
              <a:rPr lang="en-US" dirty="0">
                <a:solidFill>
                  <a:schemeClr val="accent1">
                    <a:lumMod val="20000"/>
                    <a:lumOff val="80000"/>
                  </a:schemeClr>
                </a:solidFill>
              </a:rPr>
              <a:t> whose elements need to be combined. The join() is the method used to combine all the elements of the array into a </a:t>
            </a:r>
            <a:r>
              <a:rPr lang="en-US" b="1" dirty="0">
                <a:solidFill>
                  <a:schemeClr val="accent1">
                    <a:lumMod val="20000"/>
                    <a:lumOff val="80000"/>
                  </a:schemeClr>
                </a:solidFill>
              </a:rPr>
              <a:t>single string</a:t>
            </a:r>
            <a:r>
              <a:rPr lang="en-US" dirty="0">
                <a:solidFill>
                  <a:schemeClr val="accent1">
                    <a:lumMod val="20000"/>
                    <a:lumOff val="80000"/>
                  </a:schemeClr>
                </a:solidFill>
              </a:rPr>
              <a:t>. The separator is an optional argument that specifies what should be placed between each element in the resulting string. If no separator is provided, JavaScript uses a comma (</a:t>
            </a:r>
            <a:r>
              <a:rPr lang="en-US" dirty="0">
                <a:solidFill>
                  <a:schemeClr val="accent1">
                    <a:lumMod val="20000"/>
                    <a:lumOff val="80000"/>
                  </a:schemeClr>
                </a:solidFill>
                <a:latin typeface="Courier New" panose="02070309020205020404" pitchFamily="49" charset="0"/>
              </a:rPr>
              <a:t>,</a:t>
            </a:r>
            <a:r>
              <a:rPr lang="en-US" dirty="0">
                <a:solidFill>
                  <a:schemeClr val="accent1">
                    <a:lumMod val="20000"/>
                    <a:lumOff val="80000"/>
                  </a:schemeClr>
                </a:solidFill>
              </a:rPr>
              <a:t>) by default. The join() method does not modify the original array; instead, it returns a new string containing all the elements joined together.</a:t>
            </a:r>
          </a:p>
          <a:p>
            <a:endParaRPr lang="en-US" u="sng" dirty="0">
              <a:solidFill>
                <a:schemeClr val="accent1">
                  <a:lumMod val="20000"/>
                  <a:lumOff val="80000"/>
                </a:schemeClr>
              </a:solidFill>
            </a:endParaRPr>
          </a:p>
          <a:p>
            <a:r>
              <a:rPr lang="en-US" u="sng" dirty="0">
                <a:solidFill>
                  <a:schemeClr val="accent1">
                    <a:lumMod val="20000"/>
                    <a:lumOff val="80000"/>
                  </a:schemeClr>
                </a:solidFill>
              </a:rPr>
              <a:t>let fruits = ["Apple", "Mango", "Orange"];</a:t>
            </a:r>
          </a:p>
          <a:p>
            <a:endParaRPr lang="en-US" u="sng" dirty="0">
              <a:solidFill>
                <a:schemeClr val="accent1">
                  <a:lumMod val="20000"/>
                  <a:lumOff val="80000"/>
                </a:schemeClr>
              </a:solidFill>
            </a:endParaRPr>
          </a:p>
          <a:p>
            <a:r>
              <a:rPr lang="en-US" u="sng" dirty="0">
                <a:solidFill>
                  <a:schemeClr val="accent1">
                    <a:lumMod val="20000"/>
                    <a:lumOff val="80000"/>
                  </a:schemeClr>
                </a:solidFill>
              </a:rPr>
              <a:t>let result = fruits.join(" - ");</a:t>
            </a:r>
          </a:p>
          <a:p>
            <a:endParaRPr lang="en-US" u="sng" dirty="0">
              <a:solidFill>
                <a:schemeClr val="accent1">
                  <a:lumMod val="20000"/>
                  <a:lumOff val="80000"/>
                </a:schemeClr>
              </a:solidFill>
            </a:endParaRPr>
          </a:p>
          <a:p>
            <a:r>
              <a:rPr lang="en-US" u="sng" dirty="0">
                <a:solidFill>
                  <a:schemeClr val="accent1">
                    <a:lumMod val="20000"/>
                    <a:lumOff val="80000"/>
                  </a:schemeClr>
                </a:solidFill>
              </a:rPr>
              <a:t>console.log(result);</a:t>
            </a:r>
          </a:p>
          <a:p>
            <a:r>
              <a:rPr lang="en-US" dirty="0">
                <a:solidFill>
                  <a:schemeClr val="accent1">
                    <a:lumMod val="20000"/>
                    <a:lumOff val="80000"/>
                  </a:schemeClr>
                </a:solidFill>
              </a:rPr>
              <a:t>// Apple - Mango - Orange</a:t>
            </a:r>
            <a:endParaRPr lang="en-IN" dirty="0">
              <a:solidFill>
                <a:schemeClr val="accent1">
                  <a:lumMod val="20000"/>
                  <a:lumOff val="8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0" y="153705"/>
            <a:ext cx="2800350" cy="830997"/>
          </a:xfrm>
          <a:prstGeom prst="rect">
            <a:avLst/>
          </a:prstGeom>
          <a:noFill/>
        </p:spPr>
        <p:txBody>
          <a:bodyPr wrap="square" lIns="0" tIns="0" rIns="0" bIns="0" anchor="t">
            <a:spAutoFit/>
          </a:bodyPr>
          <a:lstStyle/>
          <a:p>
            <a:pPr algn="ctr"/>
            <a:r>
              <a:rPr sz="5400" b="1" i="0" u="none" dirty="0">
                <a:solidFill>
                  <a:srgbClr val="F7DF1E"/>
                </a:solidFill>
                <a:latin typeface="Urbanist"/>
              </a:rPr>
              <a:t>join()</a:t>
            </a:r>
          </a:p>
        </p:txBody>
      </p:sp>
      <p:pic>
        <p:nvPicPr>
          <p:cNvPr id="7" name="Picture 6">
            <a:extLst>
              <a:ext uri="{FF2B5EF4-FFF2-40B4-BE49-F238E27FC236}">
                <a16:creationId xmlns:a16="http://schemas.microsoft.com/office/drawing/2014/main" id="{8D0A6FF7-D4D1-0071-1C7C-29A164308231}"/>
              </a:ext>
            </a:extLst>
          </p:cNvPr>
          <p:cNvPicPr>
            <a:picLocks noChangeAspect="1"/>
          </p:cNvPicPr>
          <p:nvPr/>
        </p:nvPicPr>
        <p:blipFill>
          <a:blip r:embed="rId3"/>
          <a:stretch>
            <a:fillRect/>
          </a:stretch>
        </p:blipFill>
        <p:spPr>
          <a:xfrm>
            <a:off x="0" y="1126559"/>
            <a:ext cx="12192000" cy="573144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6098</TotalTime>
  <Words>629</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Google Sans</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Mahendra reddy</dc:creator>
  <cp:keywords/>
  <dc:description>generated using python-pptx</dc:description>
  <cp:lastModifiedBy>Mahendra reddy</cp:lastModifiedBy>
  <cp:revision>17</cp:revision>
  <dcterms:created xsi:type="dcterms:W3CDTF">2013-01-27T09:14:16Z</dcterms:created>
  <dcterms:modified xsi:type="dcterms:W3CDTF">2026-09-07T11:40:26Z</dcterms:modified>
  <cp:category/>
</cp:coreProperties>
</file>